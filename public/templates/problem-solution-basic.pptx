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Company Name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One-sentence tagline that describes what you do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[Your Name]</a:t>
            </a:r>
            <a:endParaRPr lang="en-US" sz="1600" dirty="0"/>
          </a:p>
          <a:p>
            <a:pPr algn="ctr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[Email]</a:t>
            </a:r>
            <a:endParaRPr lang="en-US" sz="1600" dirty="0"/>
          </a:p>
          <a:p>
            <a:pPr algn="ctr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[Date]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B143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pain point are you solving?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problem in clear, relatable terms</a:t>
            </a:r>
            <a:endParaRPr lang="en-US" sz="1800" dirty="0"/>
          </a:p>
          <a:p>
            <a:pPr lvl="1" marL="685800" indent="-342900">
              <a:lnSpc>
                <a:spcPts val="2800"/>
              </a:lnSpc>
              <a:buSzPct val="100000"/>
              <a:buChar char="•"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"Small businesses waste 20 hours per week on manual invoicing"</a:t>
            </a:r>
            <a:endParaRPr lang="en-US" sz="18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Quantify the impact (time lost, money wasted, opportunities missed)</a:t>
            </a:r>
            <a:endParaRPr lang="en-US" sz="1800" dirty="0"/>
          </a:p>
          <a:p>
            <a:pPr lvl="1" marL="685800" indent="-342900">
              <a:lnSpc>
                <a:spcPts val="2800"/>
              </a:lnSpc>
              <a:buSzPct val="100000"/>
              <a:buChar char="•"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"This costs them $50,000 annually in lost productivity"</a:t>
            </a:r>
            <a:endParaRPr lang="en-US" sz="18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a story that investors can visualize</a:t>
            </a:r>
            <a:endParaRPr lang="en-US" sz="1800" dirty="0"/>
          </a:p>
          <a:p>
            <a:pPr lvl="1" marL="685800" indent="-342900">
              <a:lnSpc>
                <a:spcPts val="2800"/>
              </a:lnSpc>
              <a:buSzPct val="100000"/>
              <a:buChar char="•"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"Meet Sarah, a bakery owner who spends her weekends chasing late payments..."</a:t>
            </a:r>
            <a:endParaRPr lang="en-US" sz="18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that this problem affects a large, growing market</a:t>
            </a:r>
            <a:endParaRPr lang="en-US" sz="1800" dirty="0"/>
          </a:p>
          <a:p>
            <a:pPr lvl="1" marL="685800" indent="-342900">
              <a:lnSpc>
                <a:spcPts val="2800"/>
              </a:lnSpc>
              <a:buSzPct val="100000"/>
              <a:buChar char="•"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"15 million small businesses in the US face this daily"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720840"/>
            <a:ext cx="73152" cy="13716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6720840"/>
            <a:ext cx="27432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Creatives Takeover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412480" y="6720840"/>
            <a:ext cx="2743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B143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you solve this problem?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your solution in one clear sentence</a:t>
            </a:r>
            <a:endParaRPr lang="en-US" sz="1800" dirty="0"/>
          </a:p>
          <a:p>
            <a:pPr lvl="1" marL="685800" indent="-342900">
              <a:lnSpc>
                <a:spcPts val="2800"/>
              </a:lnSpc>
              <a:buSzPct val="100000"/>
              <a:buChar char="•"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"Automated invoicing software that syncs with your bank and sends payment reminders"</a:t>
            </a:r>
            <a:endParaRPr lang="en-US" sz="18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Highlight the key features that address the problem</a:t>
            </a:r>
            <a:endParaRPr lang="en-US" sz="1800" dirty="0"/>
          </a:p>
          <a:p>
            <a:pPr lvl="1" marL="685800" indent="-342900">
              <a:lnSpc>
                <a:spcPts val="2800"/>
              </a:lnSpc>
              <a:buSzPct val="100000"/>
              <a:buChar char="•"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"One-click invoice generation, automated payment tracking, smart reminders"</a:t>
            </a:r>
            <a:endParaRPr lang="en-US" sz="18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unique approach or technology</a:t>
            </a:r>
            <a:endParaRPr lang="en-US" sz="1800" dirty="0"/>
          </a:p>
          <a:p>
            <a:pPr lvl="1" marL="685800" indent="-342900">
              <a:lnSpc>
                <a:spcPts val="2800"/>
              </a:lnSpc>
              <a:buSzPct val="100000"/>
              <a:buChar char="•"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"AI-powered cash flow prediction helps businesses plan ahead"</a:t>
            </a:r>
            <a:endParaRPr lang="en-US" sz="18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why it's better than current alternatives</a:t>
            </a:r>
            <a:endParaRPr lang="en-US" sz="1800" dirty="0"/>
          </a:p>
          <a:p>
            <a:pPr lvl="1" marL="685800" indent="-342900">
              <a:lnSpc>
                <a:spcPts val="2800"/>
              </a:lnSpc>
              <a:buSzPct val="100000"/>
              <a:buChar char="•"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"10x faster than manual methods, 50% cheaper than competitors"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720840"/>
            <a:ext cx="73152" cy="13716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6720840"/>
            <a:ext cx="27432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Creatives Takeover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412480" y="6720840"/>
            <a:ext cx="2743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B143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Demo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Show, don't just tell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screenshots, mockups, or a product demo video</a:t>
            </a:r>
            <a:endParaRPr lang="en-US" sz="18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through the user journey step-by-step</a:t>
            </a:r>
            <a:endParaRPr lang="en-US" sz="1800" dirty="0"/>
          </a:p>
          <a:p>
            <a:pPr lvl="1" marL="685800" indent="-342900">
              <a:lnSpc>
                <a:spcPts val="2800"/>
              </a:lnSpc>
              <a:buSzPct val="100000"/>
              <a:buChar char="•"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User uploads client list</a:t>
            </a:r>
            <a:endParaRPr lang="en-US" sz="1800" dirty="0"/>
          </a:p>
          <a:p>
            <a:pPr lvl="1" marL="685800" indent="-342900">
              <a:lnSpc>
                <a:spcPts val="2800"/>
              </a:lnSpc>
              <a:buSzPct val="100000"/>
              <a:buChar char="•"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System generates professional invoices instantly</a:t>
            </a:r>
            <a:endParaRPr lang="en-US" sz="1800" dirty="0"/>
          </a:p>
          <a:p>
            <a:pPr lvl="1" marL="685800" indent="-342900">
              <a:lnSpc>
                <a:spcPts val="2800"/>
              </a:lnSpc>
              <a:buSzPct val="100000"/>
              <a:buChar char="•"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3: Automated reminders sent before due dates</a:t>
            </a:r>
            <a:endParaRPr lang="en-US" sz="1800" dirty="0"/>
          </a:p>
          <a:p>
            <a:pPr lvl="1" marL="685800" indent="-342900">
              <a:lnSpc>
                <a:spcPts val="2800"/>
              </a:lnSpc>
              <a:buSzPct val="100000"/>
              <a:buChar char="•"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4: Payment received and reconciled automatically</a:t>
            </a:r>
            <a:endParaRPr lang="en-US" sz="18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Highlight what makes the UX intuitive and delightful</a:t>
            </a:r>
            <a:endParaRPr lang="en-US" sz="1800" dirty="0"/>
          </a:p>
          <a:p>
            <a:pPr lvl="1" marL="685800" indent="-342900">
              <a:lnSpc>
                <a:spcPts val="2800"/>
              </a:lnSpc>
              <a:buSzPct val="100000"/>
              <a:buChar char="•"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"No training needed - users are productive on day one"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720840"/>
            <a:ext cx="73152" cy="13716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6720840"/>
            <a:ext cx="27432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Creatives Takeover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412480" y="6720840"/>
            <a:ext cx="2743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B143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Opportunity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big is the opportunity?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1645920"/>
            <a:ext cx="7680960" cy="914400"/>
          </a:xfrm>
          <a:prstGeom prst="rect">
            <a:avLst/>
          </a:prstGeom>
          <a:solidFill>
            <a:srgbClr val="3B82F6">
              <a:alpha val="90000"/>
            </a:srgbClr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7830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2560320" y="17830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 Billion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029200" y="1783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Addressable Market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2926080"/>
            <a:ext cx="7680960" cy="914400"/>
          </a:xfrm>
          <a:prstGeom prst="rect">
            <a:avLst/>
          </a:prstGeom>
          <a:solidFill>
            <a:srgbClr val="38BDF8">
              <a:alpha val="90000"/>
            </a:srgbClr>
          </a:solidFill>
          <a:ln w="25400">
            <a:solidFill>
              <a:srgbClr val="38BDF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30632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2560320" y="30632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 Billion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5029200" y="30632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Serviceable Available Market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4206240"/>
            <a:ext cx="7680960" cy="914400"/>
          </a:xfrm>
          <a:prstGeom prst="rect">
            <a:avLst/>
          </a:prstGeom>
          <a:solidFill>
            <a:srgbClr val="10B981">
              <a:alpha val="90000"/>
            </a:srgbClr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34340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2560320" y="43434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 Million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5029200" y="43434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Serviceable Obtainable Market (Year 5)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412480" y="6720840"/>
            <a:ext cx="2743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B143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will you make money?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your revenue model clearly</a:t>
            </a:r>
            <a:endParaRPr lang="en-US" sz="1800" dirty="0"/>
          </a:p>
          <a:p>
            <a:pPr lvl="1" marL="685800" indent="-342900">
              <a:lnSpc>
                <a:spcPts val="2800"/>
              </a:lnSpc>
              <a:buSzPct val="100000"/>
              <a:buChar char="•"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"SaaS subscription model - $49/month per user"</a:t>
            </a:r>
            <a:endParaRPr lang="en-US" sz="18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unit economics (if available)</a:t>
            </a:r>
            <a:endParaRPr lang="en-US" sz="1800" dirty="0"/>
          </a:p>
          <a:p>
            <a:pPr lvl="1" marL="685800" indent="-342900">
              <a:lnSpc>
                <a:spcPts val="2800"/>
              </a:lnSpc>
              <a:buSzPct val="100000"/>
              <a:buChar char="•"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Acquisition Cost (CAC): $300</a:t>
            </a:r>
            <a:endParaRPr lang="en-US" sz="1800" dirty="0"/>
          </a:p>
          <a:p>
            <a:pPr lvl="1" marL="685800" indent="-342900">
              <a:lnSpc>
                <a:spcPts val="2800"/>
              </a:lnSpc>
              <a:buSzPct val="100000"/>
              <a:buChar char="•"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Lifetime Value (LTV): $1,800 (avg 3-year retention)</a:t>
            </a:r>
            <a:endParaRPr lang="en-US" sz="1800" dirty="0"/>
          </a:p>
          <a:p>
            <a:pPr lvl="1" marL="685800" indent="-342900">
              <a:lnSpc>
                <a:spcPts val="2800"/>
              </a:lnSpc>
              <a:buSzPct val="100000"/>
              <a:buChar char="•"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LTV:CAC Ratio: 6:1</a:t>
            </a:r>
            <a:endParaRPr lang="en-US" sz="18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pricing strategy and why customers will pay</a:t>
            </a:r>
            <a:endParaRPr lang="en-US" sz="1800" dirty="0"/>
          </a:p>
          <a:p>
            <a:pPr lvl="1" marL="685800" indent="-342900">
              <a:lnSpc>
                <a:spcPts val="2800"/>
              </a:lnSpc>
              <a:buSzPct val="100000"/>
              <a:buChar char="•"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"Saves users $50K/year, so $600/year is an easy ROI"</a:t>
            </a:r>
            <a:endParaRPr lang="en-US" sz="18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Outline additional revenue streams (if any)</a:t>
            </a:r>
            <a:endParaRPr lang="en-US" sz="1800" dirty="0"/>
          </a:p>
          <a:p>
            <a:pPr lvl="1" marL="685800" indent="-342900">
              <a:lnSpc>
                <a:spcPts val="2800"/>
              </a:lnSpc>
              <a:buSzPct val="100000"/>
              <a:buChar char="•"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"Premium features, API access, white-label licensing"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720840"/>
            <a:ext cx="73152" cy="13716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6720840"/>
            <a:ext cx="27432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Creatives Takeover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412480" y="6720840"/>
            <a:ext cx="2743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B143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Traction &amp; Metrics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progress have you made?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your most impressive metrics first</a:t>
            </a:r>
            <a:endParaRPr lang="en-US" sz="1800" dirty="0"/>
          </a:p>
          <a:p>
            <a:pPr lvl="1" marL="685800" indent="-342900">
              <a:lnSpc>
                <a:spcPts val="2800"/>
              </a:lnSpc>
              <a:buSzPct val="100000"/>
              <a:buChar char="•"/>
            </a:pPr>
            <a:r>
              <a:rPr lang="en-US" sz="18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"$100K MRR with 40% month-over-month growth"</a:t>
            </a:r>
            <a:endParaRPr lang="en-US" sz="18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 customer validation</a:t>
            </a:r>
            <a:endParaRPr lang="en-US" sz="1800" dirty="0"/>
          </a:p>
          <a:p>
            <a:pPr lvl="1" marL="685800" indent="-342900">
              <a:lnSpc>
                <a:spcPts val="2800"/>
              </a:lnSpc>
              <a:buSzPct val="100000"/>
              <a:buChar char="•"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paying customers across 15 industries</a:t>
            </a:r>
            <a:endParaRPr lang="en-US" sz="1800" dirty="0"/>
          </a:p>
          <a:p>
            <a:pPr lvl="1" marL="685800" indent="-342900">
              <a:lnSpc>
                <a:spcPts val="2800"/>
              </a:lnSpc>
              <a:buSzPct val="100000"/>
              <a:buChar char="•"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Revenue Retention: 120%</a:t>
            </a:r>
            <a:endParaRPr lang="en-US" sz="1800" dirty="0"/>
          </a:p>
          <a:p>
            <a:pPr lvl="1" marL="685800" indent="-342900">
              <a:lnSpc>
                <a:spcPts val="2800"/>
              </a:lnSpc>
              <a:buSzPct val="100000"/>
              <a:buChar char="•"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customer rating: 4.8/5 stars</a:t>
            </a:r>
            <a:endParaRPr lang="en-US" sz="18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momentum with growth charts or milestones</a:t>
            </a:r>
            <a:endParaRPr lang="en-US" sz="1800" dirty="0"/>
          </a:p>
          <a:p>
            <a:pPr lvl="1" marL="685800" indent="-342900">
              <a:lnSpc>
                <a:spcPts val="2800"/>
              </a:lnSpc>
              <a:buSzPct val="100000"/>
              <a:buChar char="•"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"Grew from $10K to $100K MRR in 8 months"</a:t>
            </a:r>
            <a:endParaRPr lang="en-US" sz="18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partnerships, awards, or media coverage</a:t>
            </a:r>
            <a:endParaRPr lang="en-US" sz="1800" dirty="0"/>
          </a:p>
          <a:p>
            <a:pPr lvl="1" marL="685800" indent="-342900">
              <a:lnSpc>
                <a:spcPts val="2800"/>
              </a:lnSpc>
              <a:buSzPct val="100000"/>
              <a:buChar char="•"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"Featured in TechCrunch, partnership with Intuit"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720840"/>
            <a:ext cx="73152" cy="13716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6720840"/>
            <a:ext cx="27432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Creatives Takeover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412480" y="6720840"/>
            <a:ext cx="2743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B143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will you win?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1554480" cy="457200"/>
          </a:xfrm>
          <a:prstGeom prst="rect">
            <a:avLst/>
          </a:prstGeom>
          <a:solidFill>
            <a:srgbClr val="0B143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286000" y="1645920"/>
            <a:ext cx="1554480" cy="457200"/>
          </a:xfrm>
          <a:prstGeom prst="rect">
            <a:avLst/>
          </a:prstGeom>
          <a:solidFill>
            <a:srgbClr val="0B143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1645920"/>
            <a:ext cx="1554480" cy="457200"/>
          </a:xfrm>
          <a:prstGeom prst="rect">
            <a:avLst/>
          </a:prstGeom>
          <a:solidFill>
            <a:srgbClr val="0B143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App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394960" y="1645920"/>
            <a:ext cx="1554480" cy="457200"/>
          </a:xfrm>
          <a:prstGeom prst="rect">
            <a:avLst/>
          </a:prstGeom>
          <a:solidFill>
            <a:srgbClr val="0B143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949440" y="1645920"/>
            <a:ext cx="1554480" cy="457200"/>
          </a:xfrm>
          <a:prstGeom prst="rect">
            <a:avLst/>
          </a:prstGeom>
          <a:solidFill>
            <a:srgbClr val="0B143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2103120"/>
            <a:ext cx="1554480" cy="457200"/>
          </a:xfrm>
          <a:prstGeom prst="rect">
            <a:avLst/>
          </a:prstGeom>
          <a:solidFill>
            <a:srgbClr val="38BDF8">
              <a:alpha val="80000"/>
            </a:srgbClr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Company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286000" y="2103120"/>
            <a:ext cx="1554480" cy="457200"/>
          </a:xfrm>
          <a:prstGeom prst="rect">
            <a:avLst/>
          </a:prstGeom>
          <a:solidFill>
            <a:srgbClr val="38BDF8">
              <a:alpha val="80000"/>
            </a:srgbClr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840480" y="2103120"/>
            <a:ext cx="1554480" cy="457200"/>
          </a:xfrm>
          <a:prstGeom prst="rect">
            <a:avLst/>
          </a:prstGeom>
          <a:solidFill>
            <a:srgbClr val="38BDF8">
              <a:alpha val="80000"/>
            </a:srgbClr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394960" y="2103120"/>
            <a:ext cx="1554480" cy="457200"/>
          </a:xfrm>
          <a:prstGeom prst="rect">
            <a:avLst/>
          </a:prstGeom>
          <a:solidFill>
            <a:srgbClr val="38BDF8">
              <a:alpha val="80000"/>
            </a:srgbClr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949440" y="2103120"/>
            <a:ext cx="1554480" cy="457200"/>
          </a:xfrm>
          <a:prstGeom prst="rect">
            <a:avLst/>
          </a:prstGeom>
          <a:solidFill>
            <a:srgbClr val="38BDF8">
              <a:alpha val="80000"/>
            </a:srgbClr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$49/mo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31520" y="2560320"/>
            <a:ext cx="155448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Competitor A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286000" y="2560320"/>
            <a:ext cx="155448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840480" y="2560320"/>
            <a:ext cx="155448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394960" y="2560320"/>
            <a:ext cx="155448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949440" y="2560320"/>
            <a:ext cx="155448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$99/mo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31520" y="3017520"/>
            <a:ext cx="155448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Competitor B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286000" y="3017520"/>
            <a:ext cx="155448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840480" y="3017520"/>
            <a:ext cx="155448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394960" y="3017520"/>
            <a:ext cx="155448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949440" y="3017520"/>
            <a:ext cx="155448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$79/mo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31520" y="3474720"/>
            <a:ext cx="155448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Competitor C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286000" y="3474720"/>
            <a:ext cx="155448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840480" y="3474720"/>
            <a:ext cx="155448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394960" y="3474720"/>
            <a:ext cx="155448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949440" y="3474720"/>
            <a:ext cx="155448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$59/mo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412480" y="6720840"/>
            <a:ext cx="2743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B143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is this team uniquely qualified?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&amp; CEO: Jane Doe</a:t>
            </a:r>
            <a:endParaRPr lang="en-US" sz="1800" dirty="0"/>
          </a:p>
          <a:p>
            <a:pPr lvl="1" marL="685800" indent="-342900">
              <a:lnSpc>
                <a:spcPts val="2800"/>
              </a:lnSpc>
              <a:buSzPct val="100000"/>
              <a:buChar char="•"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Ex-Google product manager, 10 years in fintech, built and sold previous startup for $20M</a:t>
            </a:r>
            <a:endParaRPr lang="en-US" sz="18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CTO: John Smith</a:t>
            </a:r>
            <a:endParaRPr lang="en-US" sz="1800" dirty="0"/>
          </a:p>
          <a:p>
            <a:pPr lvl="1" marL="685800" indent="-342900">
              <a:lnSpc>
                <a:spcPts val="2800"/>
              </a:lnSpc>
              <a:buSzPct val="100000"/>
              <a:buChar char="•"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Former lead engineer at Stripe, MIT Computer Science, expert in payment systems</a:t>
            </a:r>
            <a:endParaRPr lang="en-US" sz="18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 Sales: Sarah Johnson</a:t>
            </a:r>
            <a:endParaRPr lang="en-US" sz="1800" dirty="0"/>
          </a:p>
          <a:p>
            <a:pPr lvl="1" marL="685800" indent="-342900">
              <a:lnSpc>
                <a:spcPts val="2800"/>
              </a:lnSpc>
              <a:buSzPct val="100000"/>
              <a:buChar char="•"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Scaled sales teams at Salesforce and HubSpot, 15 years B2B SaaS experience</a:t>
            </a:r>
            <a:endParaRPr lang="en-US" sz="18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Advisors:</a:t>
            </a:r>
            <a:endParaRPr lang="en-US" sz="1800" dirty="0"/>
          </a:p>
          <a:p>
            <a:pPr lvl="1" marL="685800" indent="-342900">
              <a:lnSpc>
                <a:spcPts val="2800"/>
              </a:lnSpc>
              <a:buSzPct val="100000"/>
              <a:buChar char="•"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 Chen (Former CFO of Square), Lisa Park (Partner at Sequoia Capital)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720840"/>
            <a:ext cx="73152" cy="13716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6720840"/>
            <a:ext cx="27432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Creatives Takeover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412480" y="6720840"/>
            <a:ext cx="2743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B143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are you raising and why?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2400" b="1" dirty="0">
                <a:solidFill>
                  <a:srgbClr val="0B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Raising $2M Seed Round</a:t>
            </a:r>
            <a:endParaRPr lang="en-US" sz="24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of Funds:</a:t>
            </a:r>
            <a:endParaRPr lang="en-US" sz="2400" dirty="0"/>
          </a:p>
          <a:p>
            <a:pPr lvl="1" marL="685800" indent="-342900">
              <a:lnSpc>
                <a:spcPts val="2800"/>
              </a:lnSpc>
              <a:buSzPct val="100000"/>
              <a:buChar char="•"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 - Engineering &amp; Product Development (hire 3 engineers)</a:t>
            </a:r>
            <a:endParaRPr lang="en-US" sz="2400" dirty="0"/>
          </a:p>
          <a:p>
            <a:pPr lvl="1" marL="685800" indent="-342900">
              <a:lnSpc>
                <a:spcPts val="2800"/>
              </a:lnSpc>
              <a:buSzPct val="100000"/>
              <a:buChar char="•"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- Sales &amp; Marketing (expand from 10 to 25 customers/month)</a:t>
            </a:r>
            <a:endParaRPr lang="en-US" sz="2400" dirty="0"/>
          </a:p>
          <a:p>
            <a:pPr lvl="1" marL="685800" indent="-342900">
              <a:lnSpc>
                <a:spcPts val="2800"/>
              </a:lnSpc>
              <a:buSzPct val="100000"/>
              <a:buChar char="•"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- Operations &amp; Infrastructure (scale to 5,000 users)</a:t>
            </a:r>
            <a:endParaRPr lang="en-US" sz="2400" dirty="0"/>
          </a:p>
          <a:p>
            <a:pPr lvl="1" marL="685800" indent="-342900">
              <a:lnSpc>
                <a:spcPts val="2800"/>
              </a:lnSpc>
              <a:buSzPct val="100000"/>
              <a:buChar char="•"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 - Working Capital &amp; Buffer</a:t>
            </a:r>
            <a:endParaRPr lang="en-US" sz="24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Milestones (18-month runway):</a:t>
            </a:r>
            <a:endParaRPr lang="en-US" sz="2400" dirty="0"/>
          </a:p>
          <a:p>
            <a:pPr lvl="1" marL="685800" indent="-342900">
              <a:lnSpc>
                <a:spcPts val="2800"/>
              </a:lnSpc>
              <a:buSzPct val="100000"/>
              <a:buChar char="•"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$500K ARR by Month 12</a:t>
            </a:r>
            <a:endParaRPr lang="en-US" sz="2400" dirty="0"/>
          </a:p>
          <a:p>
            <a:pPr lvl="1" marL="685800" indent="-342900">
              <a:lnSpc>
                <a:spcPts val="2800"/>
              </a:lnSpc>
              <a:buSzPct val="100000"/>
              <a:buChar char="•"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to 1,000 paying customers</a:t>
            </a:r>
            <a:endParaRPr lang="en-US" sz="2400" dirty="0"/>
          </a:p>
          <a:p>
            <a:pPr lvl="1" marL="685800" indent="-342900">
              <a:lnSpc>
                <a:spcPts val="2800"/>
              </a:lnSpc>
              <a:buSzPct val="100000"/>
              <a:buChar char="•"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enterprise tier and close 5 enterprise deals ($50K+ ARR each)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0" y="6720840"/>
            <a:ext cx="73152" cy="13716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6720840"/>
            <a:ext cx="27432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Creatives Takeover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412480" y="6720840"/>
            <a:ext cx="2743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Creatives Takeover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Problem-Solution Framework</dc:title>
  <dc:subject>Pitch Deck Template</dc:subject>
  <dc:creator>Creatives Takeover</dc:creator>
  <cp:lastModifiedBy>Creatives Takeover</cp:lastModifiedBy>
  <cp:revision>1</cp:revision>
  <dcterms:created xsi:type="dcterms:W3CDTF">2026-01-10T16:12:15Z</dcterms:created>
  <dcterms:modified xsi:type="dcterms:W3CDTF">2026-01-10T16:12:15Z</dcterms:modified>
</cp:coreProperties>
</file>